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93" autoAdjust="0"/>
    <p:restoredTop sz="94660"/>
  </p:normalViewPr>
  <p:slideViewPr>
    <p:cSldViewPr snapToGrid="0">
      <p:cViewPr>
        <p:scale>
          <a:sx n="125" d="100"/>
          <a:sy n="125" d="100"/>
        </p:scale>
        <p:origin x="739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385127" y="76198"/>
            <a:ext cx="6183300" cy="3039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1180" dirty="0"/>
              <a:t>Uncovering Patterns in UFO Sightings</a:t>
            </a:r>
            <a:endParaRPr sz="118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600715" y="385163"/>
            <a:ext cx="5752125" cy="3039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070" dirty="0">
                <a:solidFill>
                  <a:schemeClr val="dk1"/>
                </a:solidFill>
              </a:rPr>
              <a:t>Topic Modeling and Network Analysis of Encounter Descriptions</a:t>
            </a:r>
            <a:endParaRPr sz="107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endParaRPr sz="1070" dirty="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355478" y="679286"/>
            <a:ext cx="3025800" cy="57109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chemeClr val="dk1"/>
                </a:solidFill>
              </a:rPr>
              <a:t>LIS 4/5693: Information Retrieval and Text Mining</a:t>
            </a:r>
          </a:p>
          <a:p>
            <a:pPr lvl="0" algn="ctr">
              <a:buClr>
                <a:schemeClr val="dk1"/>
              </a:buClr>
              <a:buSzPts val="1100"/>
            </a:pPr>
            <a:r>
              <a:rPr lang="en-US" sz="1000" dirty="0"/>
              <a:t>Nathan Bratzler / Diego Macedo</a:t>
            </a:r>
          </a:p>
          <a:p>
            <a:pPr lvl="0" algn="ctr">
              <a:buClr>
                <a:schemeClr val="dk1"/>
              </a:buClr>
              <a:buSzPts val="1100"/>
            </a:pPr>
            <a:r>
              <a:rPr lang="en-US" sz="1000" dirty="0">
                <a:solidFill>
                  <a:schemeClr val="dk1"/>
                </a:solidFill>
              </a:rPr>
              <a:t>          University of Oklahoma 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9320" y="765405"/>
            <a:ext cx="3204202" cy="247588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 dirty="0">
                <a:solidFill>
                  <a:schemeClr val="dk1"/>
                </a:solidFill>
              </a:rPr>
              <a:t>INTRODUCTION</a:t>
            </a:r>
          </a:p>
          <a:p>
            <a:r>
              <a:rPr lang="en-US" sz="700" dirty="0"/>
              <a:t>UFO sighting reports contain many real stories written by people who saw strange things in the sky.</a:t>
            </a:r>
          </a:p>
          <a:p>
            <a:endParaRPr lang="en-US" sz="700" dirty="0"/>
          </a:p>
          <a:p>
            <a:r>
              <a:rPr lang="en-US" sz="700" dirty="0"/>
              <a:t>We wanted to understand two main things:</a:t>
            </a:r>
          </a:p>
          <a:p>
            <a:pPr fontAlgn="base"/>
            <a:r>
              <a:rPr lang="en-US" sz="700" dirty="0"/>
              <a:t>What common themes appear in these reports?</a:t>
            </a:r>
          </a:p>
          <a:p>
            <a:pPr fontAlgn="base"/>
            <a:r>
              <a:rPr lang="en-US" sz="700" dirty="0"/>
              <a:t>How are the words and ideas connected to each other?</a:t>
            </a:r>
          </a:p>
          <a:p>
            <a:pPr fontAlgn="base"/>
            <a:endParaRPr lang="en-US" sz="700" dirty="0"/>
          </a:p>
          <a:p>
            <a:r>
              <a:rPr lang="en-US" sz="700" dirty="0"/>
              <a:t>We used two methods: </a:t>
            </a:r>
          </a:p>
          <a:p>
            <a:r>
              <a:rPr lang="en-US" sz="700" dirty="0"/>
              <a:t>Topic Modeling</a:t>
            </a:r>
          </a:p>
          <a:p>
            <a:r>
              <a:rPr lang="en-US" sz="700" dirty="0"/>
              <a:t>This finds groups of words that often appear together. It helps discover hidden themes such as “bright lights in the sky” or “triangular objects”.</a:t>
            </a:r>
          </a:p>
          <a:p>
            <a:endParaRPr lang="en-US" sz="700" dirty="0"/>
          </a:p>
          <a:p>
            <a:r>
              <a:rPr lang="en-US" sz="700" dirty="0"/>
              <a:t>Network Analysis</a:t>
            </a:r>
          </a:p>
          <a:p>
            <a:r>
              <a:rPr lang="en-US" sz="700" dirty="0"/>
              <a:t>This shows how words are connected to each other. It creates a network where strongly related words are linked together.</a:t>
            </a:r>
          </a:p>
          <a:p>
            <a:endParaRPr lang="en-US" sz="700" dirty="0"/>
          </a:p>
          <a:p>
            <a:r>
              <a:rPr lang="en-US" sz="700" dirty="0"/>
              <a:t>Why these two?</a:t>
            </a:r>
          </a:p>
          <a:p>
            <a:r>
              <a:rPr lang="en-US" sz="700" dirty="0"/>
              <a:t>Topic Modeling shows the main topics.</a:t>
            </a:r>
          </a:p>
          <a:p>
            <a:r>
              <a:rPr lang="en-US" sz="700" dirty="0"/>
              <a:t>Network Analysis shows how the words inside those topics are connected.</a:t>
            </a:r>
          </a:p>
          <a:p>
            <a:r>
              <a:rPr lang="en-US" sz="700" dirty="0"/>
              <a:t>Together they give a clear picture of the patterns in UFO reports.</a:t>
            </a:r>
          </a:p>
        </p:txBody>
      </p:sp>
      <p:sp>
        <p:nvSpPr>
          <p:cNvPr id="58" name="Google Shape;58;p13"/>
          <p:cNvSpPr txBox="1"/>
          <p:nvPr/>
        </p:nvSpPr>
        <p:spPr>
          <a:xfrm>
            <a:off x="89320" y="3317630"/>
            <a:ext cx="3204202" cy="178434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 b="1" dirty="0">
                <a:solidFill>
                  <a:schemeClr val="dk1"/>
                </a:solidFill>
              </a:rPr>
              <a:t>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dirty="0">
                <a:solidFill>
                  <a:schemeClr val="dk1"/>
                </a:solidFill>
              </a:rPr>
              <a:t>We used thousands of real UFO sighting reports.</a:t>
            </a:r>
            <a:endParaRPr sz="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dirty="0">
                <a:solidFill>
                  <a:schemeClr val="dk1"/>
                </a:solidFill>
              </a:rPr>
              <a:t>Each report has a long description column written by eyewitnesses.</a:t>
            </a:r>
            <a:endParaRPr sz="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dirty="0">
                <a:solidFill>
                  <a:schemeClr val="dk1"/>
                </a:solidFill>
              </a:rPr>
              <a:t>This gives more than 1,000 text documents with categories (ufo_shape).Text Preprocessing</a:t>
            </a:r>
            <a:endParaRPr sz="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dirty="0">
                <a:solidFill>
                  <a:schemeClr val="dk1"/>
                </a:solidFill>
              </a:rPr>
              <a:t>We cleaned the descriptions by: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700" dirty="0">
                <a:solidFill>
                  <a:schemeClr val="dk1"/>
                </a:solidFill>
              </a:rPr>
              <a:t>Making all letters small</a:t>
            </a:r>
            <a:endParaRPr sz="700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700" dirty="0">
                <a:solidFill>
                  <a:schemeClr val="dk1"/>
                </a:solidFill>
              </a:rPr>
              <a:t>Removing punctuation and numbers</a:t>
            </a:r>
            <a:endParaRPr sz="700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700" dirty="0">
                <a:solidFill>
                  <a:schemeClr val="dk1"/>
                </a:solidFill>
              </a:rPr>
              <a:t>Removing common words like “the”, “and”, “of”</a:t>
            </a:r>
            <a:endParaRPr sz="700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700" dirty="0">
                <a:solidFill>
                  <a:schemeClr val="dk1"/>
                </a:solidFill>
              </a:rPr>
              <a:t>Changing words to their simple form</a:t>
            </a:r>
            <a:endParaRPr sz="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355478" y="1317810"/>
            <a:ext cx="3087756" cy="127020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 dirty="0">
                <a:solidFill>
                  <a:schemeClr val="dk1"/>
                </a:solidFill>
              </a:rPr>
              <a:t>METHODOLOGY</a:t>
            </a:r>
            <a:endParaRPr sz="700" b="1" dirty="0">
              <a:solidFill>
                <a:schemeClr val="dk1"/>
              </a:solidFill>
            </a:endParaRPr>
          </a:p>
          <a:p>
            <a:r>
              <a:rPr lang="en-US" sz="700" dirty="0"/>
              <a:t>Topic Modeling</a:t>
            </a:r>
          </a:p>
          <a:p>
            <a:r>
              <a:rPr lang="en-US" sz="700" dirty="0"/>
              <a:t>Used Bag-of-Words and Latent Dirichlet Allocation (LDA) to find recurring patterns of co-occurring words. </a:t>
            </a:r>
          </a:p>
          <a:p>
            <a:endParaRPr lang="en-US" sz="700" dirty="0"/>
          </a:p>
          <a:p>
            <a:r>
              <a:rPr lang="en-US" sz="700" dirty="0"/>
              <a:t>Network Analysis</a:t>
            </a:r>
          </a:p>
          <a:p>
            <a:r>
              <a:rPr lang="en-US" sz="700" dirty="0"/>
              <a:t>Built a word co-occurrence network to show connections between words that appear together in the same report.</a:t>
            </a:r>
          </a:p>
          <a:p>
            <a:endParaRPr lang="en-US" sz="700" dirty="0"/>
          </a:p>
          <a:p>
            <a:r>
              <a:rPr lang="en-US" sz="700" dirty="0"/>
              <a:t>Built a model to predict UFO shape from the description text using TF-IDF (Term Frequency-Inverse Document Frequency),</a:t>
            </a:r>
          </a:p>
          <a:p>
            <a:endParaRPr lang="en-US" sz="700" dirty="0"/>
          </a:p>
          <a:p>
            <a:br>
              <a:rPr lang="en-US" sz="700" dirty="0"/>
            </a:br>
            <a:endParaRPr sz="700" dirty="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355478" y="2629130"/>
            <a:ext cx="3087756" cy="144147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dirty="0">
                <a:solidFill>
                  <a:schemeClr val="dk1"/>
                </a:solidFill>
              </a:rPr>
              <a:t>FINDINGS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591736" y="1238747"/>
            <a:ext cx="2332324" cy="133300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1" dirty="0">
                <a:solidFill>
                  <a:schemeClr val="dk1"/>
                </a:solidFill>
              </a:rPr>
              <a:t>CONCLUSION</a:t>
            </a:r>
            <a:endParaRPr sz="700" b="1" dirty="0">
              <a:solidFill>
                <a:schemeClr val="dk1"/>
              </a:solidFill>
            </a:endParaRPr>
          </a:p>
          <a:p>
            <a:r>
              <a:rPr lang="en-US" sz="700" dirty="0"/>
              <a:t>• Topic modeling revealed clear themes such as bright lights and triangular shapes.</a:t>
            </a:r>
          </a:p>
          <a:p>
            <a:endParaRPr lang="en-US" sz="700" dirty="0"/>
          </a:p>
          <a:p>
            <a:r>
              <a:rPr lang="en-US" sz="700" dirty="0"/>
              <a:t>• Network analysis showed strong connections between words like “light”, “sky”, and “object”.</a:t>
            </a:r>
          </a:p>
          <a:p>
            <a:endParaRPr lang="en-US" sz="700" dirty="0"/>
          </a:p>
          <a:p>
            <a:r>
              <a:rPr lang="en-US" sz="700" dirty="0"/>
              <a:t>• The machine learning model could predict some UFO shapes from the text. Text mining helps us find meaningful patterns in large collections of UFO stories.</a:t>
            </a:r>
          </a:p>
          <a:p>
            <a:br>
              <a:rPr lang="en-US" sz="700" dirty="0"/>
            </a:br>
            <a:endParaRPr sz="700" dirty="0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591736" y="2655437"/>
            <a:ext cx="2297105" cy="136777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 dirty="0">
                <a:solidFill>
                  <a:schemeClr val="dk1"/>
                </a:solidFill>
              </a:rPr>
              <a:t>REFERENCES</a:t>
            </a:r>
            <a:endParaRPr sz="700" b="1" dirty="0">
              <a:solidFill>
                <a:schemeClr val="dk1"/>
              </a:solidFill>
            </a:endParaRP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 dirty="0">
                <a:solidFill>
                  <a:schemeClr val="dk1"/>
                </a:solidFill>
              </a:rPr>
              <a:t>Chapter 5: Text Clustering and Topic Modeling</a:t>
            </a:r>
            <a:endParaRPr sz="700" dirty="0">
              <a:solidFill>
                <a:schemeClr val="dk1"/>
              </a:solidFill>
            </a:endParaRP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 dirty="0">
                <a:solidFill>
                  <a:schemeClr val="dk1"/>
                </a:solidFill>
              </a:rPr>
              <a:t>Text Pre-Processing chapter</a:t>
            </a:r>
            <a:endParaRPr sz="700" dirty="0">
              <a:solidFill>
                <a:schemeClr val="dk1"/>
              </a:solidFill>
            </a:endParaRPr>
          </a:p>
          <a:p>
            <a:pPr marL="457200" lvl="0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Char char="●"/>
            </a:pPr>
            <a:r>
              <a:rPr lang="en" sz="700" dirty="0">
                <a:solidFill>
                  <a:schemeClr val="dk1"/>
                </a:solidFill>
              </a:rPr>
              <a:t>Text Visualization module (Altair)</a:t>
            </a:r>
            <a:endParaRPr lang="en-US" sz="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dirty="0">
                <a:solidFill>
                  <a:schemeClr val="dk1"/>
                </a:solidFill>
              </a:rPr>
              <a:t>GitHub Repository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dirty="0">
                <a:solidFill>
                  <a:schemeClr val="dk1"/>
                </a:solidFill>
              </a:rPr>
              <a:t>Dataset</a:t>
            </a:r>
            <a:endParaRPr sz="7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n-US" sz="700" dirty="0"/>
              <a:t>https://shorturl.at/46KIb</a:t>
            </a:r>
            <a:endParaRPr sz="700" dirty="0">
              <a:solidFill>
                <a:schemeClr val="dk1"/>
              </a:solidFill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6202" y="78344"/>
            <a:ext cx="1051825" cy="105182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16606D-C989-70EE-18BD-24CF157A1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274" y="2837383"/>
            <a:ext cx="1341352" cy="10639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876FEA-D4F9-6F51-3E2D-B2754865DD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8378" y="2843973"/>
            <a:ext cx="1473146" cy="10478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0AB07A-8587-16E6-3C0B-9FE6232EAA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330" y="101642"/>
            <a:ext cx="414697" cy="5340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30585E-6CAF-7890-353A-5B77956CCA6B}"/>
              </a:ext>
            </a:extLst>
          </p:cNvPr>
          <p:cNvSpPr txBox="1"/>
          <p:nvPr/>
        </p:nvSpPr>
        <p:spPr>
          <a:xfrm>
            <a:off x="3351960" y="4120911"/>
            <a:ext cx="5536881" cy="95410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en-US" sz="800" b="1" dirty="0"/>
              <a:t>MODEL PERFORMANCE</a:t>
            </a:r>
          </a:p>
          <a:p>
            <a:endParaRPr lang="en-US" sz="800" b="1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21E4A02-0E66-137E-25C0-00886E510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798024"/>
              </p:ext>
            </p:extLst>
          </p:nvPr>
        </p:nvGraphicFramePr>
        <p:xfrm>
          <a:off x="4879597" y="4162030"/>
          <a:ext cx="2688830" cy="77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415">
                  <a:extLst>
                    <a:ext uri="{9D8B030D-6E8A-4147-A177-3AD203B41FA5}">
                      <a16:colId xmlns:a16="http://schemas.microsoft.com/office/drawing/2014/main" val="3306320829"/>
                    </a:ext>
                  </a:extLst>
                </a:gridCol>
                <a:gridCol w="1344415">
                  <a:extLst>
                    <a:ext uri="{9D8B030D-6E8A-4147-A177-3AD203B41FA5}">
                      <a16:colId xmlns:a16="http://schemas.microsoft.com/office/drawing/2014/main" val="3027118677"/>
                    </a:ext>
                  </a:extLst>
                </a:gridCol>
              </a:tblGrid>
              <a:tr h="951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Score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0894471"/>
                  </a:ext>
                </a:extLst>
              </a:tr>
              <a:tr h="951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Model Used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Logistic Regression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17664548"/>
                  </a:ext>
                </a:extLst>
              </a:tr>
              <a:tr h="951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Accuracy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55.2%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28231096"/>
                  </a:ext>
                </a:extLst>
              </a:tr>
              <a:tr h="954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Macro Average F1-Score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0.49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14303006"/>
                  </a:ext>
                </a:extLst>
              </a:tr>
              <a:tr h="9545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Weighted Average F1-Score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41675594"/>
                  </a:ext>
                </a:extLst>
              </a:tr>
              <a:tr h="951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Test Samples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20,146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11769147"/>
                  </a:ext>
                </a:extLst>
              </a:tr>
              <a:tr h="17980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Number of UFO Shapes Predicted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 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892261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66E13DD-2E5C-965C-0D56-B6ADE97A2DC7}"/>
              </a:ext>
            </a:extLst>
          </p:cNvPr>
          <p:cNvSpPr txBox="1"/>
          <p:nvPr/>
        </p:nvSpPr>
        <p:spPr>
          <a:xfrm>
            <a:off x="3375592" y="3901332"/>
            <a:ext cx="132588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Figure 1: Word Network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E54235-1FA6-97B8-34DC-4F75F13C2015}"/>
              </a:ext>
            </a:extLst>
          </p:cNvPr>
          <p:cNvSpPr txBox="1"/>
          <p:nvPr/>
        </p:nvSpPr>
        <p:spPr>
          <a:xfrm>
            <a:off x="4786308" y="3904889"/>
            <a:ext cx="145368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Figure 2: Confusion Matrix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143656-38C6-5275-5305-CEC59118F2D3}"/>
              </a:ext>
            </a:extLst>
          </p:cNvPr>
          <p:cNvSpPr txBox="1"/>
          <p:nvPr/>
        </p:nvSpPr>
        <p:spPr>
          <a:xfrm>
            <a:off x="4813290" y="4915246"/>
            <a:ext cx="282144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The model correctly predicted the UFO shape 55% of the time using only the text description.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451</Words>
  <Application>Microsoft Office PowerPoint</Application>
  <PresentationFormat>On-screen Show (16:9)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Uncovering Patterns in UFO Sightings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Diego Macedo</cp:lastModifiedBy>
  <cp:revision>8</cp:revision>
  <dcterms:modified xsi:type="dcterms:W3CDTF">2026-05-04T10:55:30Z</dcterms:modified>
</cp:coreProperties>
</file>